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2"/>
  </p:notesMasterIdLst>
  <p:sldIdLst>
    <p:sldId id="256" r:id="rId2"/>
    <p:sldId id="258" r:id="rId3"/>
    <p:sldId id="292" r:id="rId4"/>
    <p:sldId id="261" r:id="rId5"/>
    <p:sldId id="289" r:id="rId6"/>
    <p:sldId id="290" r:id="rId7"/>
    <p:sldId id="291" r:id="rId8"/>
    <p:sldId id="269" r:id="rId9"/>
    <p:sldId id="293" r:id="rId10"/>
    <p:sldId id="294" r:id="rId11"/>
  </p:sldIdLst>
  <p:sldSz cx="9144000" cy="5143500" type="screen16x9"/>
  <p:notesSz cx="6858000" cy="9144000"/>
  <p:embeddedFontLst>
    <p:embeddedFont>
      <p:font typeface="Albert Sans" panose="020B0604020202020204" charset="0"/>
      <p:regular r:id="rId13"/>
      <p:bold r:id="rId14"/>
      <p:italic r:id="rId15"/>
      <p:boldItalic r:id="rId16"/>
    </p:embeddedFont>
    <p:embeddedFont>
      <p:font typeface="Hanken Grotesk" panose="020B0604020202020204" charset="0"/>
      <p:regular r:id="rId17"/>
      <p:bold r:id="rId18"/>
      <p:italic r:id="rId19"/>
      <p:boldItalic r:id="rId20"/>
    </p:embeddedFont>
    <p:embeddedFont>
      <p:font typeface="LMRoman10" panose="02000503020200000003" pitchFamily="50" charset="0"/>
      <p:regular r:id="rId21"/>
      <p:bold r:id="rId22"/>
      <p:boldItalic r:id="rId23"/>
    </p:embeddedFont>
    <p:embeddedFont>
      <p:font typeface="Raleway" pitchFamily="2" charset="0"/>
      <p:regular r:id="rId24"/>
      <p:bold r:id="rId25"/>
      <p:italic r:id="rId26"/>
      <p:boldItalic r:id="rId27"/>
    </p:embeddedFont>
    <p:embeddedFont>
      <p:font typeface="Xanh Mono" panose="020B0604020202020204" charset="0"/>
      <p:regular r:id="rId28"/>
      <p: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19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945C2AB-5608-42E2-BD19-ED2D2CF3EA8E}">
  <a:tblStyle styleId="{8945C2AB-5608-42E2-BD19-ED2D2CF3EA8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5" d="100"/>
          <a:sy n="155" d="100"/>
        </p:scale>
        <p:origin x="3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9dc3dc6a5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9dc3dc6a5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e1d838b627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e1d838b627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>
          <a:extLst>
            <a:ext uri="{FF2B5EF4-FFF2-40B4-BE49-F238E27FC236}">
              <a16:creationId xmlns:a16="http://schemas.microsoft.com/office/drawing/2014/main" id="{D24ABD3E-EFF2-763D-E8AB-E353B0AF8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3fb61485ab_0_110:notes">
            <a:extLst>
              <a:ext uri="{FF2B5EF4-FFF2-40B4-BE49-F238E27FC236}">
                <a16:creationId xmlns:a16="http://schemas.microsoft.com/office/drawing/2014/main" id="{FD6D7C70-A34D-E1BB-8C80-9E9FB39191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3fb61485ab_0_110:notes">
            <a:extLst>
              <a:ext uri="{FF2B5EF4-FFF2-40B4-BE49-F238E27FC236}">
                <a16:creationId xmlns:a16="http://schemas.microsoft.com/office/drawing/2014/main" id="{D10200C5-82F8-E8FD-2FBC-A9D0CF71AF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43636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3fb61485ab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3fb61485ab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>
          <a:extLst>
            <a:ext uri="{FF2B5EF4-FFF2-40B4-BE49-F238E27FC236}">
              <a16:creationId xmlns:a16="http://schemas.microsoft.com/office/drawing/2014/main" id="{932F6E94-EF0E-5D52-0EEC-C9E2CAEA7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e1d838b627_4_0:notes">
            <a:extLst>
              <a:ext uri="{FF2B5EF4-FFF2-40B4-BE49-F238E27FC236}">
                <a16:creationId xmlns:a16="http://schemas.microsoft.com/office/drawing/2014/main" id="{159A7966-4C11-2892-849F-4A98417F83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e1d838b627_4_0:notes">
            <a:extLst>
              <a:ext uri="{FF2B5EF4-FFF2-40B4-BE49-F238E27FC236}">
                <a16:creationId xmlns:a16="http://schemas.microsoft.com/office/drawing/2014/main" id="{E64D8A3F-9187-9D61-1016-E6E9BA176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56099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>
          <a:extLst>
            <a:ext uri="{FF2B5EF4-FFF2-40B4-BE49-F238E27FC236}">
              <a16:creationId xmlns:a16="http://schemas.microsoft.com/office/drawing/2014/main" id="{EB9F8100-0EB4-51DF-AF61-C4985F279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e1d838b627_4_0:notes">
            <a:extLst>
              <a:ext uri="{FF2B5EF4-FFF2-40B4-BE49-F238E27FC236}">
                <a16:creationId xmlns:a16="http://schemas.microsoft.com/office/drawing/2014/main" id="{B6712F51-5A4C-0046-4A9A-C17DF93869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e1d838b627_4_0:notes">
            <a:extLst>
              <a:ext uri="{FF2B5EF4-FFF2-40B4-BE49-F238E27FC236}">
                <a16:creationId xmlns:a16="http://schemas.microsoft.com/office/drawing/2014/main" id="{A4CEE082-442A-737F-0AEA-159FF00301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00974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>
          <a:extLst>
            <a:ext uri="{FF2B5EF4-FFF2-40B4-BE49-F238E27FC236}">
              <a16:creationId xmlns:a16="http://schemas.microsoft.com/office/drawing/2014/main" id="{815E2574-59D4-F77D-D421-4EC17A457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e1d838b627_4_0:notes">
            <a:extLst>
              <a:ext uri="{FF2B5EF4-FFF2-40B4-BE49-F238E27FC236}">
                <a16:creationId xmlns:a16="http://schemas.microsoft.com/office/drawing/2014/main" id="{E221A65C-B69B-8739-6178-5BEB7974E7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e1d838b627_4_0:notes">
            <a:extLst>
              <a:ext uri="{FF2B5EF4-FFF2-40B4-BE49-F238E27FC236}">
                <a16:creationId xmlns:a16="http://schemas.microsoft.com/office/drawing/2014/main" id="{5143D569-EDFE-9A2B-EAEE-3C7DF31A5A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27072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135c9f142d8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135c9f142d8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>
          <a:extLst>
            <a:ext uri="{FF2B5EF4-FFF2-40B4-BE49-F238E27FC236}">
              <a16:creationId xmlns:a16="http://schemas.microsoft.com/office/drawing/2014/main" id="{83D474FB-7D53-FE5B-85BE-DC37AD979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e1d838b627_4_0:notes">
            <a:extLst>
              <a:ext uri="{FF2B5EF4-FFF2-40B4-BE49-F238E27FC236}">
                <a16:creationId xmlns:a16="http://schemas.microsoft.com/office/drawing/2014/main" id="{5F1BA3EA-C0F7-923C-521B-84FEAB1B59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e1d838b627_4_0:notes">
            <a:extLst>
              <a:ext uri="{FF2B5EF4-FFF2-40B4-BE49-F238E27FC236}">
                <a16:creationId xmlns:a16="http://schemas.microsoft.com/office/drawing/2014/main" id="{F8E6F38F-C5B8-0AB1-BA9F-B0B3C009EE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84567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>
          <a:extLst>
            <a:ext uri="{FF2B5EF4-FFF2-40B4-BE49-F238E27FC236}">
              <a16:creationId xmlns:a16="http://schemas.microsoft.com/office/drawing/2014/main" id="{1E12B553-D97F-52CE-AA06-CF9A05B2E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e1d838b627_4_0:notes">
            <a:extLst>
              <a:ext uri="{FF2B5EF4-FFF2-40B4-BE49-F238E27FC236}">
                <a16:creationId xmlns:a16="http://schemas.microsoft.com/office/drawing/2014/main" id="{9F84ECDA-9085-BC12-1E1E-00CD5786B5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e1d838b627_4_0:notes">
            <a:extLst>
              <a:ext uri="{FF2B5EF4-FFF2-40B4-BE49-F238E27FC236}">
                <a16:creationId xmlns:a16="http://schemas.microsoft.com/office/drawing/2014/main" id="{5F9E5DF3-5A16-7B93-DB47-C32BCFCCD6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83174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 title="fondo negr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812150" y="565960"/>
            <a:ext cx="4062000" cy="83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9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302474" y="3132860"/>
            <a:ext cx="1337100" cy="1091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2"/>
          <p:cNvSpPr>
            <a:spLocks noGrp="1"/>
          </p:cNvSpPr>
          <p:nvPr>
            <p:ph type="pic" idx="2"/>
          </p:nvPr>
        </p:nvSpPr>
        <p:spPr>
          <a:xfrm>
            <a:off x="4639925" y="1286437"/>
            <a:ext cx="2596500" cy="2968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fondo negr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228600" y="2805000"/>
            <a:ext cx="4881300" cy="2109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9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2" hasCustomPrompt="1"/>
          </p:nvPr>
        </p:nvSpPr>
        <p:spPr>
          <a:xfrm>
            <a:off x="7444975" y="228600"/>
            <a:ext cx="1470600" cy="126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" title="fondo negr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Darker Grotesque SemiBold"/>
              <a:buChar char="●"/>
              <a:defRPr sz="12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7" title="fondo negr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3998400" cy="144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1609625" y="2066125"/>
            <a:ext cx="3824100" cy="25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>
            <a:spLocks noGrp="1"/>
          </p:cNvSpPr>
          <p:nvPr>
            <p:ph type="pic" idx="2"/>
          </p:nvPr>
        </p:nvSpPr>
        <p:spPr>
          <a:xfrm>
            <a:off x="5715849" y="0"/>
            <a:ext cx="34281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8" title="fondo negr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9" title="fondo negr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9"/>
          <p:cNvSpPr txBox="1">
            <a:spLocks noGrp="1"/>
          </p:cNvSpPr>
          <p:nvPr>
            <p:ph type="subTitle" idx="1"/>
          </p:nvPr>
        </p:nvSpPr>
        <p:spPr>
          <a:xfrm>
            <a:off x="720064" y="1580125"/>
            <a:ext cx="3597000" cy="23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2"/>
          </p:nvPr>
        </p:nvSpPr>
        <p:spPr>
          <a:xfrm>
            <a:off x="4826936" y="1580125"/>
            <a:ext cx="3597000" cy="23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720000" y="349624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1" title="fondo negr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952850"/>
            <a:ext cx="6576000" cy="79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subTitle" idx="1"/>
          </p:nvPr>
        </p:nvSpPr>
        <p:spPr>
          <a:xfrm>
            <a:off x="1284000" y="2816250"/>
            <a:ext cx="6576000" cy="374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4" title="fondo negr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4"/>
          <p:cNvSpPr txBox="1">
            <a:spLocks noGrp="1"/>
          </p:cNvSpPr>
          <p:nvPr>
            <p:ph type="title"/>
          </p:nvPr>
        </p:nvSpPr>
        <p:spPr>
          <a:xfrm>
            <a:off x="4136975" y="1176950"/>
            <a:ext cx="4778400" cy="712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6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4"/>
          <p:cNvSpPr txBox="1">
            <a:spLocks noGrp="1"/>
          </p:cNvSpPr>
          <p:nvPr>
            <p:ph type="subTitle" idx="1"/>
          </p:nvPr>
        </p:nvSpPr>
        <p:spPr>
          <a:xfrm>
            <a:off x="1790700" y="2143150"/>
            <a:ext cx="5562600" cy="18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0" title="fondo negr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0"/>
          <p:cNvSpPr txBox="1">
            <a:spLocks noGrp="1"/>
          </p:cNvSpPr>
          <p:nvPr>
            <p:ph type="title"/>
          </p:nvPr>
        </p:nvSpPr>
        <p:spPr>
          <a:xfrm>
            <a:off x="5007475" y="368500"/>
            <a:ext cx="39078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700"/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118" name="Google Shape;118;p20"/>
          <p:cNvSpPr txBox="1">
            <a:spLocks noGrp="1"/>
          </p:cNvSpPr>
          <p:nvPr>
            <p:ph type="subTitle" idx="1"/>
          </p:nvPr>
        </p:nvSpPr>
        <p:spPr>
          <a:xfrm>
            <a:off x="5007600" y="1404432"/>
            <a:ext cx="3907800" cy="116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0"/>
          <p:cNvSpPr txBox="1"/>
          <p:nvPr/>
        </p:nvSpPr>
        <p:spPr>
          <a:xfrm>
            <a:off x="228600" y="3962575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CREDITS:</a:t>
            </a:r>
            <a:r>
              <a:rPr lang="en" sz="1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This presentation template was created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and includes icons, infographics &amp; images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endParaRPr sz="1000" b="1" u="sng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1" title="fondo negr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2" title="fondo negr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fondo negr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6115496" y="636225"/>
            <a:ext cx="2799900" cy="4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1600">
                <a:solidFill>
                  <a:schemeClr val="dk2"/>
                </a:solidFill>
                <a:latin typeface="Xanh Mono"/>
                <a:ea typeface="Xanh Mono"/>
                <a:cs typeface="Xanh Mono"/>
                <a:sym typeface="Xanh Mono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2"/>
          </p:nvPr>
        </p:nvSpPr>
        <p:spPr>
          <a:xfrm>
            <a:off x="6115496" y="1131149"/>
            <a:ext cx="2799900" cy="4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1600">
                <a:solidFill>
                  <a:schemeClr val="dk2"/>
                </a:solidFill>
                <a:latin typeface="Xanh Mono"/>
                <a:ea typeface="Xanh Mono"/>
                <a:cs typeface="Xanh Mono"/>
                <a:sym typeface="Xanh Mono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3"/>
          </p:nvPr>
        </p:nvSpPr>
        <p:spPr>
          <a:xfrm>
            <a:off x="6115496" y="1626072"/>
            <a:ext cx="2799900" cy="4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1600">
                <a:solidFill>
                  <a:schemeClr val="dk2"/>
                </a:solidFill>
                <a:latin typeface="Xanh Mono"/>
                <a:ea typeface="Xanh Mono"/>
                <a:cs typeface="Xanh Mono"/>
                <a:sym typeface="Xanh Mono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4"/>
          </p:nvPr>
        </p:nvSpPr>
        <p:spPr>
          <a:xfrm>
            <a:off x="6115496" y="2121015"/>
            <a:ext cx="2799900" cy="4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1600">
                <a:solidFill>
                  <a:schemeClr val="dk2"/>
                </a:solidFill>
                <a:latin typeface="Xanh Mono"/>
                <a:ea typeface="Xanh Mono"/>
                <a:cs typeface="Xanh Mono"/>
                <a:sym typeface="Xanh Mono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5"/>
          </p:nvPr>
        </p:nvSpPr>
        <p:spPr>
          <a:xfrm>
            <a:off x="6103646" y="2615975"/>
            <a:ext cx="2799900" cy="4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1600">
                <a:solidFill>
                  <a:schemeClr val="dk2"/>
                </a:solidFill>
                <a:latin typeface="Xanh Mono"/>
                <a:ea typeface="Xanh Mono"/>
                <a:cs typeface="Xanh Mono"/>
                <a:sym typeface="Xanh Mono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6"/>
          </p:nvPr>
        </p:nvSpPr>
        <p:spPr>
          <a:xfrm>
            <a:off x="6103646" y="3110897"/>
            <a:ext cx="2799900" cy="4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1600">
                <a:solidFill>
                  <a:schemeClr val="dk2"/>
                </a:solidFill>
                <a:latin typeface="Xanh Mono"/>
                <a:ea typeface="Xanh Mono"/>
                <a:cs typeface="Xanh Mono"/>
                <a:sym typeface="Xanh Mono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7"/>
          </p:nvPr>
        </p:nvSpPr>
        <p:spPr>
          <a:xfrm>
            <a:off x="6103646" y="3605819"/>
            <a:ext cx="2799900" cy="4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1600">
                <a:solidFill>
                  <a:schemeClr val="dk2"/>
                </a:solidFill>
                <a:latin typeface="Xanh Mono"/>
                <a:ea typeface="Xanh Mono"/>
                <a:cs typeface="Xanh Mono"/>
                <a:sym typeface="Xanh Mono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subTitle" idx="8"/>
          </p:nvPr>
        </p:nvSpPr>
        <p:spPr>
          <a:xfrm>
            <a:off x="6103646" y="4100760"/>
            <a:ext cx="2799900" cy="4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1600">
                <a:solidFill>
                  <a:schemeClr val="dk2"/>
                </a:solidFill>
                <a:latin typeface="Xanh Mono"/>
                <a:ea typeface="Xanh Mono"/>
                <a:cs typeface="Xanh Mono"/>
                <a:sym typeface="Xanh Mono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title" hasCustomPrompt="1"/>
          </p:nvPr>
        </p:nvSpPr>
        <p:spPr>
          <a:xfrm>
            <a:off x="5348976" y="2154910"/>
            <a:ext cx="8658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9" hasCustomPrompt="1"/>
          </p:nvPr>
        </p:nvSpPr>
        <p:spPr>
          <a:xfrm>
            <a:off x="5348977" y="1164852"/>
            <a:ext cx="8658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>
            <a:spLocks noGrp="1"/>
          </p:cNvSpPr>
          <p:nvPr>
            <p:ph type="title" idx="13" hasCustomPrompt="1"/>
          </p:nvPr>
        </p:nvSpPr>
        <p:spPr>
          <a:xfrm>
            <a:off x="5349805" y="670123"/>
            <a:ext cx="864300" cy="31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6" name="Google Shape;66;p13"/>
          <p:cNvSpPr txBox="1">
            <a:spLocks noGrp="1"/>
          </p:cNvSpPr>
          <p:nvPr>
            <p:ph type="title" idx="14" hasCustomPrompt="1"/>
          </p:nvPr>
        </p:nvSpPr>
        <p:spPr>
          <a:xfrm>
            <a:off x="5348976" y="1659881"/>
            <a:ext cx="8658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>
            <a:spLocks noGrp="1"/>
          </p:cNvSpPr>
          <p:nvPr>
            <p:ph type="title" idx="15" hasCustomPrompt="1"/>
          </p:nvPr>
        </p:nvSpPr>
        <p:spPr>
          <a:xfrm>
            <a:off x="5349814" y="3144800"/>
            <a:ext cx="8658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" name="Google Shape;68;p13"/>
          <p:cNvSpPr txBox="1">
            <a:spLocks noGrp="1"/>
          </p:cNvSpPr>
          <p:nvPr>
            <p:ph type="title" idx="16" hasCustomPrompt="1"/>
          </p:nvPr>
        </p:nvSpPr>
        <p:spPr>
          <a:xfrm>
            <a:off x="5349812" y="3639726"/>
            <a:ext cx="8658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9" name="Google Shape;69;p13"/>
          <p:cNvSpPr txBox="1">
            <a:spLocks noGrp="1"/>
          </p:cNvSpPr>
          <p:nvPr>
            <p:ph type="title" idx="17" hasCustomPrompt="1"/>
          </p:nvPr>
        </p:nvSpPr>
        <p:spPr>
          <a:xfrm>
            <a:off x="5349814" y="4134653"/>
            <a:ext cx="8658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0" name="Google Shape;70;p13"/>
          <p:cNvSpPr txBox="1">
            <a:spLocks noGrp="1"/>
          </p:cNvSpPr>
          <p:nvPr>
            <p:ph type="title" idx="18" hasCustomPrompt="1"/>
          </p:nvPr>
        </p:nvSpPr>
        <p:spPr>
          <a:xfrm>
            <a:off x="5349814" y="2649873"/>
            <a:ext cx="8658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71" name="Google Shape;71;p13"/>
          <p:cNvSpPr txBox="1">
            <a:spLocks noGrp="1"/>
          </p:cNvSpPr>
          <p:nvPr>
            <p:ph type="title" idx="19"/>
          </p:nvPr>
        </p:nvSpPr>
        <p:spPr>
          <a:xfrm>
            <a:off x="228600" y="349625"/>
            <a:ext cx="48189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48163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Xanh Mono"/>
              <a:buNone/>
              <a:defRPr sz="2600">
                <a:solidFill>
                  <a:schemeClr val="dk1"/>
                </a:solidFill>
                <a:latin typeface="Xanh Mono"/>
                <a:ea typeface="Xanh Mono"/>
                <a:cs typeface="Xanh Mono"/>
                <a:sym typeface="Xanh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Xanh Mono"/>
              <a:buNone/>
              <a:defRPr sz="2600">
                <a:solidFill>
                  <a:schemeClr val="dk1"/>
                </a:solidFill>
                <a:latin typeface="Xanh Mono"/>
                <a:ea typeface="Xanh Mono"/>
                <a:cs typeface="Xanh Mono"/>
                <a:sym typeface="Xanh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Xanh Mono"/>
              <a:buNone/>
              <a:defRPr sz="2600">
                <a:solidFill>
                  <a:schemeClr val="dk1"/>
                </a:solidFill>
                <a:latin typeface="Xanh Mono"/>
                <a:ea typeface="Xanh Mono"/>
                <a:cs typeface="Xanh Mono"/>
                <a:sym typeface="Xanh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Xanh Mono"/>
              <a:buNone/>
              <a:defRPr sz="2600">
                <a:solidFill>
                  <a:schemeClr val="dk1"/>
                </a:solidFill>
                <a:latin typeface="Xanh Mono"/>
                <a:ea typeface="Xanh Mono"/>
                <a:cs typeface="Xanh Mono"/>
                <a:sym typeface="Xanh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Xanh Mono"/>
              <a:buNone/>
              <a:defRPr sz="2600">
                <a:solidFill>
                  <a:schemeClr val="dk1"/>
                </a:solidFill>
                <a:latin typeface="Xanh Mono"/>
                <a:ea typeface="Xanh Mono"/>
                <a:cs typeface="Xanh Mono"/>
                <a:sym typeface="Xanh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Xanh Mono"/>
              <a:buNone/>
              <a:defRPr sz="2600">
                <a:solidFill>
                  <a:schemeClr val="dk1"/>
                </a:solidFill>
                <a:latin typeface="Xanh Mono"/>
                <a:ea typeface="Xanh Mono"/>
                <a:cs typeface="Xanh Mono"/>
                <a:sym typeface="Xanh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Xanh Mono"/>
              <a:buNone/>
              <a:defRPr sz="2600">
                <a:solidFill>
                  <a:schemeClr val="dk1"/>
                </a:solidFill>
                <a:latin typeface="Xanh Mono"/>
                <a:ea typeface="Xanh Mono"/>
                <a:cs typeface="Xanh Mono"/>
                <a:sym typeface="Xanh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Xanh Mono"/>
              <a:buNone/>
              <a:defRPr sz="2600">
                <a:solidFill>
                  <a:schemeClr val="dk1"/>
                </a:solidFill>
                <a:latin typeface="Xanh Mono"/>
                <a:ea typeface="Xanh Mono"/>
                <a:cs typeface="Xanh Mono"/>
                <a:sym typeface="Xanh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Xanh Mono"/>
              <a:buNone/>
              <a:defRPr sz="2600">
                <a:solidFill>
                  <a:schemeClr val="dk1"/>
                </a:solidFill>
                <a:latin typeface="Xanh Mono"/>
                <a:ea typeface="Xanh Mono"/>
                <a:cs typeface="Xanh Mono"/>
                <a:sym typeface="Xanh Mon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54" r:id="rId5"/>
    <p:sldLayoutId id="2147483655" r:id="rId6"/>
    <p:sldLayoutId id="2147483657" r:id="rId7"/>
    <p:sldLayoutId id="2147483658" r:id="rId8"/>
    <p:sldLayoutId id="2147483660" r:id="rId9"/>
    <p:sldLayoutId id="2147483666" r:id="rId10"/>
    <p:sldLayoutId id="2147483667" r:id="rId11"/>
    <p:sldLayoutId id="2147483668" r:id="rId12"/>
    <p:sldLayoutId id="2147483674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mber-energy.org/data/india-electricity-data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>
            <a:spLocks noGrp="1"/>
          </p:cNvSpPr>
          <p:nvPr>
            <p:ph type="ctrTitle"/>
          </p:nvPr>
        </p:nvSpPr>
        <p:spPr>
          <a:xfrm>
            <a:off x="1062129" y="1941788"/>
            <a:ext cx="7019740" cy="83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en-US" sz="3200" dirty="0"/>
              <a:t>Time Series Analysis of Electricity Generation in India (2019–2025)</a:t>
            </a:r>
            <a:endParaRPr sz="3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84FE0B-8334-2359-B729-60767979C462}"/>
              </a:ext>
            </a:extLst>
          </p:cNvPr>
          <p:cNvSpPr txBox="1"/>
          <p:nvPr/>
        </p:nvSpPr>
        <p:spPr>
          <a:xfrm>
            <a:off x="3608172" y="197708"/>
            <a:ext cx="1927654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tx1"/>
                </a:solidFill>
                <a:latin typeface="Xanh Mono" panose="020B0604020202020204" charset="0"/>
              </a:rPr>
              <a:t>ED 405 Time </a:t>
            </a:r>
            <a:r>
              <a:rPr lang="en-IN" sz="1600" dirty="0">
                <a:solidFill>
                  <a:schemeClr val="tx1"/>
                </a:solidFill>
                <a:latin typeface="Xanh Mono" panose="020B0604020202020204" charset="0"/>
              </a:rPr>
              <a:t>Series</a:t>
            </a:r>
            <a:r>
              <a:rPr lang="en-IN" dirty="0">
                <a:solidFill>
                  <a:schemeClr val="tx1"/>
                </a:solidFill>
                <a:latin typeface="Xanh Mono" panose="020B0604020202020204" charset="0"/>
              </a:rPr>
              <a:t> Econometrics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D36E6F-3C9A-50D8-73C9-27B242ADFD74}"/>
              </a:ext>
            </a:extLst>
          </p:cNvPr>
          <p:cNvSpPr txBox="1"/>
          <p:nvPr/>
        </p:nvSpPr>
        <p:spPr>
          <a:xfrm>
            <a:off x="3401196" y="3509319"/>
            <a:ext cx="23416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tx1"/>
                </a:solidFill>
                <a:latin typeface="LMRoman10" panose="02000503020200000003" pitchFamily="50" charset="0"/>
                <a:cs typeface="LMRoman10" panose="02000503020200000003" pitchFamily="50" charset="0"/>
              </a:rPr>
              <a:t>Vivek Kumar </a:t>
            </a:r>
          </a:p>
          <a:p>
            <a:pPr algn="ctr"/>
            <a:r>
              <a:rPr lang="en-IN" dirty="0">
                <a:solidFill>
                  <a:schemeClr val="tx1"/>
                </a:solidFill>
                <a:latin typeface="LMRoman10" panose="02000503020200000003" pitchFamily="50" charset="0"/>
                <a:cs typeface="LMRoman10" panose="02000503020200000003" pitchFamily="50" charset="0"/>
              </a:rPr>
              <a:t>IED/10008/22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9"/>
          <p:cNvSpPr txBox="1">
            <a:spLocks noGrp="1"/>
          </p:cNvSpPr>
          <p:nvPr>
            <p:ph type="title" idx="19"/>
          </p:nvPr>
        </p:nvSpPr>
        <p:spPr>
          <a:xfrm>
            <a:off x="228600" y="349625"/>
            <a:ext cx="4818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 b="0"/>
          </a:p>
        </p:txBody>
      </p:sp>
      <p:sp>
        <p:nvSpPr>
          <p:cNvPr id="190" name="Google Shape;190;p29"/>
          <p:cNvSpPr txBox="1">
            <a:spLocks noGrp="1"/>
          </p:cNvSpPr>
          <p:nvPr>
            <p:ph type="subTitle" idx="1"/>
          </p:nvPr>
        </p:nvSpPr>
        <p:spPr>
          <a:xfrm>
            <a:off x="5269058" y="1241706"/>
            <a:ext cx="2799900" cy="4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191" name="Google Shape;191;p29"/>
          <p:cNvSpPr txBox="1">
            <a:spLocks noGrp="1"/>
          </p:cNvSpPr>
          <p:nvPr>
            <p:ph type="subTitle" idx="2"/>
          </p:nvPr>
        </p:nvSpPr>
        <p:spPr>
          <a:xfrm>
            <a:off x="5269058" y="1736630"/>
            <a:ext cx="3541310" cy="4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 &amp; Research Questions</a:t>
            </a:r>
            <a:endParaRPr dirty="0"/>
          </a:p>
        </p:txBody>
      </p:sp>
      <p:sp>
        <p:nvSpPr>
          <p:cNvPr id="192" name="Google Shape;192;p29"/>
          <p:cNvSpPr txBox="1">
            <a:spLocks noGrp="1"/>
          </p:cNvSpPr>
          <p:nvPr>
            <p:ph type="subTitle" idx="3"/>
          </p:nvPr>
        </p:nvSpPr>
        <p:spPr>
          <a:xfrm>
            <a:off x="5269058" y="2231553"/>
            <a:ext cx="2799900" cy="4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</a:t>
            </a:r>
            <a:endParaRPr dirty="0"/>
          </a:p>
        </p:txBody>
      </p:sp>
      <p:sp>
        <p:nvSpPr>
          <p:cNvPr id="193" name="Google Shape;193;p29"/>
          <p:cNvSpPr txBox="1">
            <a:spLocks noGrp="1"/>
          </p:cNvSpPr>
          <p:nvPr>
            <p:ph type="subTitle" idx="4"/>
          </p:nvPr>
        </p:nvSpPr>
        <p:spPr>
          <a:xfrm>
            <a:off x="5269058" y="2726496"/>
            <a:ext cx="2799900" cy="4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Methodology</a:t>
            </a:r>
            <a:endParaRPr dirty="0"/>
          </a:p>
        </p:txBody>
      </p:sp>
      <p:sp>
        <p:nvSpPr>
          <p:cNvPr id="194" name="Google Shape;194;p29"/>
          <p:cNvSpPr txBox="1">
            <a:spLocks noGrp="1"/>
          </p:cNvSpPr>
          <p:nvPr>
            <p:ph type="subTitle" idx="5"/>
          </p:nvPr>
        </p:nvSpPr>
        <p:spPr>
          <a:xfrm>
            <a:off x="5257208" y="3221456"/>
            <a:ext cx="2799900" cy="4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Results &amp; Takeaways</a:t>
            </a:r>
            <a:endParaRPr dirty="0"/>
          </a:p>
        </p:txBody>
      </p:sp>
      <p:sp>
        <p:nvSpPr>
          <p:cNvPr id="198" name="Google Shape;198;p29"/>
          <p:cNvSpPr txBox="1">
            <a:spLocks noGrp="1"/>
          </p:cNvSpPr>
          <p:nvPr>
            <p:ph type="title"/>
          </p:nvPr>
        </p:nvSpPr>
        <p:spPr>
          <a:xfrm>
            <a:off x="4502538" y="2760391"/>
            <a:ext cx="8658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04.</a:t>
            </a:r>
            <a:endParaRPr/>
          </a:p>
        </p:txBody>
      </p:sp>
      <p:sp>
        <p:nvSpPr>
          <p:cNvPr id="199" name="Google Shape;199;p29"/>
          <p:cNvSpPr txBox="1">
            <a:spLocks noGrp="1"/>
          </p:cNvSpPr>
          <p:nvPr>
            <p:ph type="title" idx="9"/>
          </p:nvPr>
        </p:nvSpPr>
        <p:spPr>
          <a:xfrm>
            <a:off x="4502539" y="1770333"/>
            <a:ext cx="8658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02.</a:t>
            </a:r>
            <a:endParaRPr/>
          </a:p>
        </p:txBody>
      </p:sp>
      <p:sp>
        <p:nvSpPr>
          <p:cNvPr id="200" name="Google Shape;200;p29"/>
          <p:cNvSpPr txBox="1">
            <a:spLocks noGrp="1"/>
          </p:cNvSpPr>
          <p:nvPr>
            <p:ph type="title" idx="13"/>
          </p:nvPr>
        </p:nvSpPr>
        <p:spPr>
          <a:xfrm>
            <a:off x="4503367" y="1275604"/>
            <a:ext cx="864300" cy="31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01.</a:t>
            </a:r>
            <a:endParaRPr/>
          </a:p>
        </p:txBody>
      </p:sp>
      <p:sp>
        <p:nvSpPr>
          <p:cNvPr id="201" name="Google Shape;201;p29"/>
          <p:cNvSpPr txBox="1">
            <a:spLocks noGrp="1"/>
          </p:cNvSpPr>
          <p:nvPr>
            <p:ph type="title" idx="14"/>
          </p:nvPr>
        </p:nvSpPr>
        <p:spPr>
          <a:xfrm>
            <a:off x="4502538" y="2265362"/>
            <a:ext cx="8658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03.</a:t>
            </a:r>
            <a:endParaRPr/>
          </a:p>
        </p:txBody>
      </p:sp>
      <p:sp>
        <p:nvSpPr>
          <p:cNvPr id="205" name="Google Shape;205;p29"/>
          <p:cNvSpPr txBox="1">
            <a:spLocks noGrp="1"/>
          </p:cNvSpPr>
          <p:nvPr>
            <p:ph type="title" idx="18"/>
          </p:nvPr>
        </p:nvSpPr>
        <p:spPr>
          <a:xfrm>
            <a:off x="4503376" y="3255354"/>
            <a:ext cx="8658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>
          <a:extLst>
            <a:ext uri="{FF2B5EF4-FFF2-40B4-BE49-F238E27FC236}">
              <a16:creationId xmlns:a16="http://schemas.microsoft.com/office/drawing/2014/main" id="{EA0053C9-2994-AFE7-19FB-04C551E5D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5E7E30E-1851-47EC-5583-4BCC19383A9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28218" y="1376515"/>
            <a:ext cx="8141193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1600" b="1" dirty="0">
                <a:latin typeface="LMRoman10" panose="02000503020200000003" pitchFamily="50" charset="0"/>
                <a:cs typeface="LMRoman10" panose="02000503020200000003" pitchFamily="50" charset="0"/>
              </a:rPr>
              <a:t>Energy consumption is a key indicator of: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sz="1600" dirty="0">
                <a:latin typeface="LMRoman10" panose="02000503020200000003" pitchFamily="50" charset="0"/>
                <a:cs typeface="LMRoman10" panose="02000503020200000003" pitchFamily="50" charset="0"/>
              </a:rPr>
              <a:t>Economic activity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sz="1600" dirty="0">
                <a:latin typeface="LMRoman10" panose="02000503020200000003" pitchFamily="50" charset="0"/>
                <a:cs typeface="LMRoman10" panose="02000503020200000003" pitchFamily="50" charset="0"/>
              </a:rPr>
              <a:t>Energy demand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IN" sz="1600" dirty="0">
                <a:latin typeface="LMRoman10" panose="02000503020200000003" pitchFamily="50" charset="0"/>
                <a:cs typeface="LMRoman10" panose="02000503020200000003" pitchFamily="50" charset="0"/>
              </a:rPr>
              <a:t>Industrialization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MRoman10" panose="02000503020200000003" pitchFamily="50" charset="0"/>
              <a:cs typeface="LMRoman10" panose="02000503020200000003" pitchFamily="50" charset="0"/>
            </a:endParaRPr>
          </a:p>
        </p:txBody>
      </p:sp>
      <p:sp>
        <p:nvSpPr>
          <p:cNvPr id="6" name="Google Shape;218;p31">
            <a:extLst>
              <a:ext uri="{FF2B5EF4-FFF2-40B4-BE49-F238E27FC236}">
                <a16:creationId xmlns:a16="http://schemas.microsoft.com/office/drawing/2014/main" id="{7127F1CB-6DE5-D482-E975-4FC7C314EC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7006" y="438680"/>
            <a:ext cx="5138501" cy="98234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 Introduction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23615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2"/>
          <p:cNvSpPr txBox="1">
            <a:spLocks noGrp="1"/>
          </p:cNvSpPr>
          <p:nvPr>
            <p:ph type="title"/>
          </p:nvPr>
        </p:nvSpPr>
        <p:spPr>
          <a:xfrm>
            <a:off x="378791" y="1792961"/>
            <a:ext cx="5436948" cy="71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2400" dirty="0"/>
              <a:t>Questions addressed:</a:t>
            </a:r>
            <a:endParaRPr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3F0ECC-42EB-15AF-A8F2-0A7FCA63367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78791" y="2741935"/>
            <a:ext cx="8141193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are the key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trend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seasonal components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India’s electricity generation?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 the time series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stationary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Which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 series model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best fits the data?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can we expect for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next 12 months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generation?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75FC11-3195-815D-72EC-88709A0228DF}"/>
              </a:ext>
            </a:extLst>
          </p:cNvPr>
          <p:cNvSpPr txBox="1"/>
          <p:nvPr/>
        </p:nvSpPr>
        <p:spPr>
          <a:xfrm>
            <a:off x="346944" y="835797"/>
            <a:ext cx="84501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Problem:</a:t>
            </a:r>
            <a:r>
              <a:rPr lang="en-US" sz="1600" dirty="0">
                <a:solidFill>
                  <a:schemeClr val="tx1"/>
                </a:solidFill>
              </a:rPr>
              <a:t> India’s electricity generation shows strong monthly fluctuations and an upward trend, but the underlying patterns and seasonality are unclear.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5" name="Google Shape;218;p31">
            <a:extLst>
              <a:ext uri="{FF2B5EF4-FFF2-40B4-BE49-F238E27FC236}">
                <a16:creationId xmlns:a16="http://schemas.microsoft.com/office/drawing/2014/main" id="{58F055D1-F442-18BE-E182-6B1E644A730C}"/>
              </a:ext>
            </a:extLst>
          </p:cNvPr>
          <p:cNvSpPr txBox="1">
            <a:spLocks/>
          </p:cNvSpPr>
          <p:nvPr/>
        </p:nvSpPr>
        <p:spPr>
          <a:xfrm>
            <a:off x="378791" y="115497"/>
            <a:ext cx="7747686" cy="712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Xanh Mono"/>
              <a:buNone/>
              <a:defRPr sz="4000" b="0" i="0" u="none" strike="noStrike" cap="none">
                <a:solidFill>
                  <a:schemeClr val="dk1"/>
                </a:solidFill>
                <a:latin typeface="Xanh Mono"/>
                <a:ea typeface="Xanh Mono"/>
                <a:cs typeface="Xanh Mono"/>
                <a:sym typeface="Xanh Mon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Xanh Mono"/>
              <a:buNone/>
              <a:defRPr sz="2600" b="0" i="0" u="none" strike="noStrike" cap="none">
                <a:solidFill>
                  <a:schemeClr val="dk1"/>
                </a:solidFill>
                <a:latin typeface="Xanh Mono"/>
                <a:ea typeface="Xanh Mono"/>
                <a:cs typeface="Xanh Mono"/>
                <a:sym typeface="Xanh Mon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Xanh Mono"/>
              <a:buNone/>
              <a:defRPr sz="2600" b="0" i="0" u="none" strike="noStrike" cap="none">
                <a:solidFill>
                  <a:schemeClr val="dk1"/>
                </a:solidFill>
                <a:latin typeface="Xanh Mono"/>
                <a:ea typeface="Xanh Mono"/>
                <a:cs typeface="Xanh Mono"/>
                <a:sym typeface="Xanh Mon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Xanh Mono"/>
              <a:buNone/>
              <a:defRPr sz="2600" b="0" i="0" u="none" strike="noStrike" cap="none">
                <a:solidFill>
                  <a:schemeClr val="dk1"/>
                </a:solidFill>
                <a:latin typeface="Xanh Mono"/>
                <a:ea typeface="Xanh Mono"/>
                <a:cs typeface="Xanh Mono"/>
                <a:sym typeface="Xanh Mon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Xanh Mono"/>
              <a:buNone/>
              <a:defRPr sz="2600" b="0" i="0" u="none" strike="noStrike" cap="none">
                <a:solidFill>
                  <a:schemeClr val="dk1"/>
                </a:solidFill>
                <a:latin typeface="Xanh Mono"/>
                <a:ea typeface="Xanh Mono"/>
                <a:cs typeface="Xanh Mono"/>
                <a:sym typeface="Xanh Mon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Xanh Mono"/>
              <a:buNone/>
              <a:defRPr sz="2600" b="0" i="0" u="none" strike="noStrike" cap="none">
                <a:solidFill>
                  <a:schemeClr val="dk1"/>
                </a:solidFill>
                <a:latin typeface="Xanh Mono"/>
                <a:ea typeface="Xanh Mono"/>
                <a:cs typeface="Xanh Mono"/>
                <a:sym typeface="Xanh Mon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Xanh Mono"/>
              <a:buNone/>
              <a:defRPr sz="2600" b="0" i="0" u="none" strike="noStrike" cap="none">
                <a:solidFill>
                  <a:schemeClr val="dk1"/>
                </a:solidFill>
                <a:latin typeface="Xanh Mono"/>
                <a:ea typeface="Xanh Mono"/>
                <a:cs typeface="Xanh Mono"/>
                <a:sym typeface="Xanh Mon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Xanh Mono"/>
              <a:buNone/>
              <a:defRPr sz="2600" b="0" i="0" u="none" strike="noStrike" cap="none">
                <a:solidFill>
                  <a:schemeClr val="dk1"/>
                </a:solidFill>
                <a:latin typeface="Xanh Mono"/>
                <a:ea typeface="Xanh Mono"/>
                <a:cs typeface="Xanh Mono"/>
                <a:sym typeface="Xanh Mon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Xanh Mono"/>
              <a:buNone/>
              <a:defRPr sz="2600" b="0" i="0" u="none" strike="noStrike" cap="none">
                <a:solidFill>
                  <a:schemeClr val="dk1"/>
                </a:solidFill>
                <a:latin typeface="Xanh Mono"/>
                <a:ea typeface="Xanh Mono"/>
                <a:cs typeface="Xanh Mono"/>
                <a:sym typeface="Xanh Mono"/>
              </a:defRPr>
            </a:lvl9pPr>
          </a:lstStyle>
          <a:p>
            <a:r>
              <a:rPr lang="en-IN" sz="3200" dirty="0"/>
              <a:t>02 Problem &amp; Research Questions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>
          <a:extLst>
            <a:ext uri="{FF2B5EF4-FFF2-40B4-BE49-F238E27FC236}">
              <a16:creationId xmlns:a16="http://schemas.microsoft.com/office/drawing/2014/main" id="{83D65589-F051-EC21-4350-82DDB11B1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1">
            <a:extLst>
              <a:ext uri="{FF2B5EF4-FFF2-40B4-BE49-F238E27FC236}">
                <a16:creationId xmlns:a16="http://schemas.microsoft.com/office/drawing/2014/main" id="{5875A230-0A6E-35F0-1FCD-74F3FB7C46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8490" y="242738"/>
            <a:ext cx="1952543" cy="61165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03 Data</a:t>
            </a:r>
            <a:endParaRPr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E58EF2-E0F8-70BD-75B7-7A303B20D3C2}"/>
              </a:ext>
            </a:extLst>
          </p:cNvPr>
          <p:cNvSpPr txBox="1"/>
          <p:nvPr/>
        </p:nvSpPr>
        <p:spPr>
          <a:xfrm>
            <a:off x="531341" y="759940"/>
            <a:ext cx="740169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chemeClr val="tx1"/>
                </a:solidFill>
              </a:rPr>
              <a:t>Source: Ember Energy – India Electricity Data (2019-2025) (</a:t>
            </a:r>
            <a:r>
              <a:rPr lang="en-IN" sz="1100" dirty="0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https://ember-energy.org/data/india-electricity-data</a:t>
            </a:r>
            <a:r>
              <a:rPr lang="en-IN" sz="1100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IN" sz="1100" dirty="0">
                <a:solidFill>
                  <a:schemeClr val="tx1"/>
                </a:solidFill>
              </a:rPr>
              <a:t>) </a:t>
            </a:r>
          </a:p>
          <a:p>
            <a:r>
              <a:rPr lang="en-US" sz="1100" dirty="0">
                <a:solidFill>
                  <a:schemeClr val="tx1"/>
                </a:solidFill>
              </a:rPr>
              <a:t>Summary:</a:t>
            </a:r>
          </a:p>
          <a:p>
            <a:r>
              <a:rPr lang="en-US" sz="1100" dirty="0">
                <a:solidFill>
                  <a:schemeClr val="tx1"/>
                </a:solidFill>
              </a:rPr>
              <a:t>Mean: ~2,63,000 GWh/month</a:t>
            </a:r>
          </a:p>
          <a:p>
            <a:r>
              <a:rPr lang="en-US" sz="1100" dirty="0">
                <a:solidFill>
                  <a:schemeClr val="tx1"/>
                </a:solidFill>
              </a:rPr>
              <a:t>Range: 1,83,000 – 3,35,000 GWh</a:t>
            </a:r>
          </a:p>
          <a:p>
            <a:r>
              <a:rPr lang="en-US" sz="1100" dirty="0">
                <a:solidFill>
                  <a:schemeClr val="tx1"/>
                </a:solidFill>
              </a:rPr>
              <a:t>Increasing trend with strong seasonality (summer peaks)</a:t>
            </a:r>
          </a:p>
          <a:p>
            <a:endParaRPr lang="en-IN" sz="1100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212355-891F-7ADB-AA7C-4877A1DF36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656" y="1712955"/>
            <a:ext cx="6981393" cy="272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811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>
          <a:extLst>
            <a:ext uri="{FF2B5EF4-FFF2-40B4-BE49-F238E27FC236}">
              <a16:creationId xmlns:a16="http://schemas.microsoft.com/office/drawing/2014/main" id="{35DB89D2-B789-DE81-2E8B-1A854737A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1">
            <a:extLst>
              <a:ext uri="{FF2B5EF4-FFF2-40B4-BE49-F238E27FC236}">
                <a16:creationId xmlns:a16="http://schemas.microsoft.com/office/drawing/2014/main" id="{ACE2ADB2-A14B-F828-E468-DD50D72A0A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0384" y="0"/>
            <a:ext cx="8853616" cy="100707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sz="2800" dirty="0"/>
              <a:t>04 Methodology: </a:t>
            </a:r>
            <a:r>
              <a:rPr lang="en-IN" sz="2800" dirty="0"/>
              <a:t>Decomposition &amp; SARIMA </a:t>
            </a:r>
            <a:r>
              <a:rPr lang="en-IN" sz="2800" dirty="0" err="1"/>
              <a:t>Modeling</a:t>
            </a:r>
            <a:endParaRPr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3BD4AC-D4F4-4D80-0E01-39232BE17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267" y="806270"/>
            <a:ext cx="5565410" cy="40252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104503-D312-ADB0-8335-BF97C37A4F55}"/>
              </a:ext>
            </a:extLst>
          </p:cNvPr>
          <p:cNvSpPr txBox="1"/>
          <p:nvPr/>
        </p:nvSpPr>
        <p:spPr>
          <a:xfrm>
            <a:off x="5900351" y="806270"/>
            <a:ext cx="311390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Stationarity Test:</a:t>
            </a:r>
          </a:p>
          <a:p>
            <a:r>
              <a:rPr lang="en-US" dirty="0">
                <a:solidFill>
                  <a:schemeClr val="tx1"/>
                </a:solidFill>
              </a:rPr>
              <a:t>Augmented Dickey-Fuller</a:t>
            </a:r>
          </a:p>
          <a:p>
            <a:r>
              <a:rPr lang="en-US" dirty="0">
                <a:solidFill>
                  <a:schemeClr val="tx1"/>
                </a:solidFill>
              </a:rPr>
              <a:t>p ≈ 0.98 at level → non-stationary</a:t>
            </a:r>
          </a:p>
          <a:p>
            <a:r>
              <a:rPr lang="en-US" dirty="0">
                <a:solidFill>
                  <a:schemeClr val="tx1"/>
                </a:solidFill>
              </a:rPr>
              <a:t>p &lt; 0.001 after 1st difference → stationary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Model:</a:t>
            </a:r>
          </a:p>
          <a:p>
            <a:r>
              <a:rPr lang="en-US" dirty="0">
                <a:solidFill>
                  <a:schemeClr val="tx1"/>
                </a:solidFill>
              </a:rPr>
              <a:t>Seasonal ARIMA</a:t>
            </a:r>
          </a:p>
          <a:p>
            <a:r>
              <a:rPr lang="en-US" dirty="0">
                <a:solidFill>
                  <a:schemeClr val="tx1"/>
                </a:solidFill>
              </a:rPr>
              <a:t>Selected by AIC → SARIMA (1, 1, 1)×(0, 1, 1)₁₂</a:t>
            </a:r>
          </a:p>
          <a:p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438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>
          <a:extLst>
            <a:ext uri="{FF2B5EF4-FFF2-40B4-BE49-F238E27FC236}">
              <a16:creationId xmlns:a16="http://schemas.microsoft.com/office/drawing/2014/main" id="{02A344F5-25D5-6159-8D5A-686313133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1">
            <a:extLst>
              <a:ext uri="{FF2B5EF4-FFF2-40B4-BE49-F238E27FC236}">
                <a16:creationId xmlns:a16="http://schemas.microsoft.com/office/drawing/2014/main" id="{7143D9C2-8C9F-6E47-3CEC-AEFA049F5E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4206" y="160639"/>
            <a:ext cx="6357552" cy="74758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IN" sz="3200" dirty="0"/>
              <a:t>05 Results &amp; Takeaways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A9F9B4-573C-C535-FFE2-DCCA17CEB3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2982" y="857551"/>
            <a:ext cx="5479056" cy="22829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02555E-21DD-203A-5956-B6445BE7762A}"/>
              </a:ext>
            </a:extLst>
          </p:cNvPr>
          <p:cNvSpPr txBox="1"/>
          <p:nvPr/>
        </p:nvSpPr>
        <p:spPr>
          <a:xfrm>
            <a:off x="346841" y="908223"/>
            <a:ext cx="3116141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Clear annual seasonality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Strong upward trend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+6–8% expected increase in next 12 months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India’s electricity generation is steadily growing and seasonally driven.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SARIMA provides a statistically sound baseline for short-term forecasting.</a:t>
            </a:r>
            <a:endParaRPr lang="en-IN" dirty="0">
              <a:solidFill>
                <a:schemeClr val="tx1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2899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0"/>
          <p:cNvSpPr txBox="1">
            <a:spLocks noGrp="1"/>
          </p:cNvSpPr>
          <p:nvPr>
            <p:ph type="title"/>
          </p:nvPr>
        </p:nvSpPr>
        <p:spPr>
          <a:xfrm>
            <a:off x="5007475" y="368500"/>
            <a:ext cx="39078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325" name="Google Shape;325;p40"/>
          <p:cNvSpPr txBox="1">
            <a:spLocks noGrp="1"/>
          </p:cNvSpPr>
          <p:nvPr>
            <p:ph type="subTitle" idx="1"/>
          </p:nvPr>
        </p:nvSpPr>
        <p:spPr>
          <a:xfrm>
            <a:off x="5007600" y="1404432"/>
            <a:ext cx="3907800" cy="116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Do you have any questions?</a:t>
            </a:r>
            <a:endParaRPr dirty="0"/>
          </a:p>
          <a:p>
            <a:pPr marL="0" lvl="0" indent="0" algn="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IN" dirty="0"/>
              <a:t>i</a:t>
            </a:r>
            <a:r>
              <a:rPr lang="en" dirty="0"/>
              <a:t>ed10008.22@bitmesra.ac.in</a:t>
            </a:r>
            <a:endParaRPr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7870145339</a:t>
            </a:r>
            <a:endParaRPr dirty="0"/>
          </a:p>
        </p:txBody>
      </p:sp>
      <p:sp>
        <p:nvSpPr>
          <p:cNvPr id="334" name="Google Shape;334;p40"/>
          <p:cNvSpPr txBox="1"/>
          <p:nvPr/>
        </p:nvSpPr>
        <p:spPr>
          <a:xfrm>
            <a:off x="228600" y="4536500"/>
            <a:ext cx="41517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Please keep this slide for attribution</a:t>
            </a:r>
            <a:endParaRPr sz="10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A69C3D-2036-1844-EBE3-4F3D1E7C56AB}"/>
              </a:ext>
            </a:extLst>
          </p:cNvPr>
          <p:cNvSpPr/>
          <p:nvPr/>
        </p:nvSpPr>
        <p:spPr>
          <a:xfrm>
            <a:off x="228600" y="4009768"/>
            <a:ext cx="5677930" cy="883508"/>
          </a:xfrm>
          <a:prstGeom prst="rect">
            <a:avLst/>
          </a:prstGeom>
          <a:solidFill>
            <a:srgbClr val="1E19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326" name="Google Shape;326;p40"/>
          <p:cNvGrpSpPr/>
          <p:nvPr/>
        </p:nvGrpSpPr>
        <p:grpSpPr>
          <a:xfrm>
            <a:off x="1749973" y="4323776"/>
            <a:ext cx="276012" cy="275991"/>
            <a:chOff x="3368074" y="3882537"/>
            <a:chExt cx="215298" cy="215298"/>
          </a:xfrm>
        </p:grpSpPr>
        <p:sp>
          <p:nvSpPr>
            <p:cNvPr id="327" name="Google Shape;327;p40"/>
            <p:cNvSpPr/>
            <p:nvPr/>
          </p:nvSpPr>
          <p:spPr>
            <a:xfrm>
              <a:off x="3368074" y="3882537"/>
              <a:ext cx="215298" cy="215298"/>
            </a:xfrm>
            <a:custGeom>
              <a:avLst/>
              <a:gdLst/>
              <a:ahLst/>
              <a:cxnLst/>
              <a:rect l="l" t="t" r="r" b="b"/>
              <a:pathLst>
                <a:path w="6764" h="6764" extrusionOk="0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40"/>
            <p:cNvSpPr/>
            <p:nvPr/>
          </p:nvSpPr>
          <p:spPr>
            <a:xfrm>
              <a:off x="3418143" y="3933656"/>
              <a:ext cx="114811" cy="112742"/>
            </a:xfrm>
            <a:custGeom>
              <a:avLst/>
              <a:gdLst/>
              <a:ahLst/>
              <a:cxnLst/>
              <a:rect l="l" t="t" r="r" b="b"/>
              <a:pathLst>
                <a:path w="3607" h="3542" extrusionOk="0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40"/>
            <p:cNvSpPr/>
            <p:nvPr/>
          </p:nvSpPr>
          <p:spPr>
            <a:xfrm>
              <a:off x="3519298" y="3910197"/>
              <a:ext cx="29570" cy="29220"/>
            </a:xfrm>
            <a:custGeom>
              <a:avLst/>
              <a:gdLst/>
              <a:ahLst/>
              <a:cxnLst/>
              <a:rect l="l" t="t" r="r" b="b"/>
              <a:pathLst>
                <a:path w="929" h="918" extrusionOk="0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0" name="Google Shape;330;p40"/>
          <p:cNvGrpSpPr/>
          <p:nvPr/>
        </p:nvGrpSpPr>
        <p:grpSpPr>
          <a:xfrm>
            <a:off x="2626155" y="4342485"/>
            <a:ext cx="266790" cy="238574"/>
            <a:chOff x="3824739" y="3890112"/>
            <a:chExt cx="208105" cy="186110"/>
          </a:xfrm>
        </p:grpSpPr>
        <p:sp>
          <p:nvSpPr>
            <p:cNvPr id="331" name="Google Shape;331;p40"/>
            <p:cNvSpPr/>
            <p:nvPr/>
          </p:nvSpPr>
          <p:spPr>
            <a:xfrm>
              <a:off x="3831933" y="3955682"/>
              <a:ext cx="47809" cy="120540"/>
            </a:xfrm>
            <a:custGeom>
              <a:avLst/>
              <a:gdLst/>
              <a:ahLst/>
              <a:cxnLst/>
              <a:rect l="l" t="t" r="r" b="b"/>
              <a:pathLst>
                <a:path w="1502" h="3787" extrusionOk="0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40"/>
            <p:cNvSpPr/>
            <p:nvPr/>
          </p:nvSpPr>
          <p:spPr>
            <a:xfrm>
              <a:off x="3824739" y="3890112"/>
              <a:ext cx="55002" cy="55002"/>
            </a:xfrm>
            <a:custGeom>
              <a:avLst/>
              <a:gdLst/>
              <a:ahLst/>
              <a:cxnLst/>
              <a:rect l="l" t="t" r="r" b="b"/>
              <a:pathLst>
                <a:path w="1728" h="1728" extrusionOk="0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40"/>
            <p:cNvSpPr/>
            <p:nvPr/>
          </p:nvSpPr>
          <p:spPr>
            <a:xfrm>
              <a:off x="3904696" y="3955682"/>
              <a:ext cx="128148" cy="120540"/>
            </a:xfrm>
            <a:custGeom>
              <a:avLst/>
              <a:gdLst/>
              <a:ahLst/>
              <a:cxnLst/>
              <a:rect l="l" t="t" r="r" b="b"/>
              <a:pathLst>
                <a:path w="4026" h="3787" extrusionOk="0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5" name="Google Shape;335;p40"/>
          <p:cNvSpPr/>
          <p:nvPr/>
        </p:nvSpPr>
        <p:spPr>
          <a:xfrm>
            <a:off x="3493123" y="4324570"/>
            <a:ext cx="268502" cy="274403"/>
          </a:xfrm>
          <a:custGeom>
            <a:avLst/>
            <a:gdLst/>
            <a:ahLst/>
            <a:cxnLst/>
            <a:rect l="l" t="t" r="r" b="b"/>
            <a:pathLst>
              <a:path w="6712561" h="6860069" extrusionOk="0">
                <a:moveTo>
                  <a:pt x="3994869" y="2904749"/>
                </a:moveTo>
                <a:lnTo>
                  <a:pt x="6493788" y="0"/>
                </a:lnTo>
                <a:lnTo>
                  <a:pt x="5901628" y="0"/>
                </a:lnTo>
                <a:lnTo>
                  <a:pt x="3731848" y="2522189"/>
                </a:lnTo>
                <a:lnTo>
                  <a:pt x="1998833" y="0"/>
                </a:lnTo>
                <a:lnTo>
                  <a:pt x="0" y="0"/>
                </a:lnTo>
                <a:lnTo>
                  <a:pt x="2620640" y="3813966"/>
                </a:lnTo>
                <a:lnTo>
                  <a:pt x="0" y="6860070"/>
                </a:lnTo>
                <a:lnTo>
                  <a:pt x="592216" y="6860070"/>
                </a:lnTo>
                <a:lnTo>
                  <a:pt x="2883548" y="4196581"/>
                </a:lnTo>
                <a:lnTo>
                  <a:pt x="4713728" y="6860070"/>
                </a:lnTo>
                <a:lnTo>
                  <a:pt x="6712561" y="6860070"/>
                </a:lnTo>
                <a:lnTo>
                  <a:pt x="3994757" y="2904749"/>
                </a:lnTo>
                <a:lnTo>
                  <a:pt x="3994925" y="2904749"/>
                </a:lnTo>
                <a:close/>
                <a:moveTo>
                  <a:pt x="3183768" y="3847528"/>
                </a:moveTo>
                <a:lnTo>
                  <a:pt x="2918230" y="3467765"/>
                </a:lnTo>
                <a:lnTo>
                  <a:pt x="805563" y="445770"/>
                </a:lnTo>
                <a:lnTo>
                  <a:pt x="1715115" y="445770"/>
                </a:lnTo>
                <a:lnTo>
                  <a:pt x="3420106" y="2884611"/>
                </a:lnTo>
                <a:lnTo>
                  <a:pt x="3685644" y="3264375"/>
                </a:lnTo>
                <a:lnTo>
                  <a:pt x="5901907" y="6434494"/>
                </a:lnTo>
                <a:lnTo>
                  <a:pt x="4992356" y="6434494"/>
                </a:lnTo>
                <a:lnTo>
                  <a:pt x="3183824" y="3847640"/>
                </a:lnTo>
                <a:lnTo>
                  <a:pt x="3183824" y="3847472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>
          <a:extLst>
            <a:ext uri="{FF2B5EF4-FFF2-40B4-BE49-F238E27FC236}">
              <a16:creationId xmlns:a16="http://schemas.microsoft.com/office/drawing/2014/main" id="{5CB5A4EF-484C-291D-C810-AD1C74466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1">
            <a:extLst>
              <a:ext uri="{FF2B5EF4-FFF2-40B4-BE49-F238E27FC236}">
                <a16:creationId xmlns:a16="http://schemas.microsoft.com/office/drawing/2014/main" id="{C9DF6779-369F-3243-E779-26452B55AE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4206" y="160639"/>
            <a:ext cx="6907426" cy="74758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IN" sz="3200" dirty="0"/>
              <a:t>Appendix-I (First Differencing)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948DBA-B4D3-78B4-C881-40EF7CA9B9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9826" y="908223"/>
            <a:ext cx="5659395" cy="20573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0B1C9DD-B67D-521F-38B6-6A86E47E92E9}"/>
              </a:ext>
            </a:extLst>
          </p:cNvPr>
          <p:cNvSpPr txBox="1"/>
          <p:nvPr/>
        </p:nvSpPr>
        <p:spPr>
          <a:xfrm>
            <a:off x="426308" y="908223"/>
            <a:ext cx="28235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After first diff. it became stationary.</a:t>
            </a:r>
          </a:p>
        </p:txBody>
      </p:sp>
    </p:spTree>
    <p:extLst>
      <p:ext uri="{BB962C8B-B14F-4D97-AF65-F5344CB8AC3E}">
        <p14:creationId xmlns:p14="http://schemas.microsoft.com/office/powerpoint/2010/main" val="2341082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>
          <a:extLst>
            <a:ext uri="{FF2B5EF4-FFF2-40B4-BE49-F238E27FC236}">
              <a16:creationId xmlns:a16="http://schemas.microsoft.com/office/drawing/2014/main" id="{F5F8E797-491C-1B60-A2CF-A751C550D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1">
            <a:extLst>
              <a:ext uri="{FF2B5EF4-FFF2-40B4-BE49-F238E27FC236}">
                <a16:creationId xmlns:a16="http://schemas.microsoft.com/office/drawing/2014/main" id="{165FF614-07FE-E94B-3B4A-C12F0DFFF5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4206" y="160639"/>
            <a:ext cx="6357552" cy="74758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IN" sz="3200" dirty="0"/>
              <a:t>Appendix-II (Diagnostics)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F999DB-8085-A3FD-4074-0EFAD5C1C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5692" y="975257"/>
            <a:ext cx="4837670" cy="387013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E85DEAE-7040-A65B-7686-127A85A21762}"/>
              </a:ext>
            </a:extLst>
          </p:cNvPr>
          <p:cNvSpPr txBox="1"/>
          <p:nvPr/>
        </p:nvSpPr>
        <p:spPr>
          <a:xfrm>
            <a:off x="362594" y="1201610"/>
            <a:ext cx="410244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Residuals should look like white noise (no visible pattern).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Checks if residuals are roughly normally distributed.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Correlogram: Tests if residuals are autocorrelated.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7118194"/>
      </p:ext>
    </p:extLst>
  </p:cSld>
  <p:clrMapOvr>
    <a:masterClrMapping/>
  </p:clrMapOvr>
</p:sld>
</file>

<file path=ppt/theme/theme1.xml><?xml version="1.0" encoding="utf-8"?>
<a:theme xmlns:a="http://schemas.openxmlformats.org/drawingml/2006/main" name="Brazil's Military Dictatorship by Slidesgo">
  <a:themeElements>
    <a:clrScheme name="Simple Light">
      <a:dk1>
        <a:srgbClr val="FFFFFF"/>
      </a:dk1>
      <a:lt1>
        <a:srgbClr val="1F1F1F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334</Words>
  <Application>Microsoft Office PowerPoint</Application>
  <PresentationFormat>On-screen Show (16:9)</PresentationFormat>
  <Paragraphs>66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Xanh Mono</vt:lpstr>
      <vt:lpstr>Calibri</vt:lpstr>
      <vt:lpstr>Arial</vt:lpstr>
      <vt:lpstr>Darker Grotesque SemiBold</vt:lpstr>
      <vt:lpstr>Hanken Grotesk</vt:lpstr>
      <vt:lpstr>Albert Sans</vt:lpstr>
      <vt:lpstr>LMRoman10</vt:lpstr>
      <vt:lpstr>Raleway</vt:lpstr>
      <vt:lpstr>Brazil's Military Dictatorship by Slidesgo</vt:lpstr>
      <vt:lpstr>Time Series Analysis of Electricity Generation in India (2019–2025)</vt:lpstr>
      <vt:lpstr>TABLE OF CONTENTS</vt:lpstr>
      <vt:lpstr>01 Introduction</vt:lpstr>
      <vt:lpstr>Questions addressed:</vt:lpstr>
      <vt:lpstr>03 Data</vt:lpstr>
      <vt:lpstr>04 Methodology: Decomposition &amp; SARIMA Modeling</vt:lpstr>
      <vt:lpstr>05 Results &amp; Takeaways</vt:lpstr>
      <vt:lpstr>THANK YOU</vt:lpstr>
      <vt:lpstr>Appendix-I (First Differencing)</vt:lpstr>
      <vt:lpstr>Appendix-II (Diagnostics)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VIVEK KUMAR(IED10008.22@bitmesra.ac.in)</cp:lastModifiedBy>
  <cp:revision>5</cp:revision>
  <dcterms:modified xsi:type="dcterms:W3CDTF">2025-11-10T09:33:33Z</dcterms:modified>
</cp:coreProperties>
</file>